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onsolas" panose="020B0609020204030204" pitchFamily="49" charset="0"/>
      <p:regular r:id="rId18"/>
      <p:bold r:id="rId19"/>
      <p:italic r:id="rId20"/>
      <p:boldItalic r:id="rId21"/>
    </p:embeddedFont>
    <p:embeddedFont>
      <p:font typeface="Raleway" pitchFamily="2" charset="0"/>
      <p:regular r:id="rId22"/>
      <p:bold r:id="rId23"/>
      <p:italic r:id="rId24"/>
      <p:boldItalic r:id="rId25"/>
    </p:embeddedFont>
    <p:embeddedFont>
      <p:font typeface="Roboto" panose="02000000000000000000" pitchFamily="2" charset="0"/>
      <p:regular r:id="rId26"/>
      <p:bold r:id="rId27"/>
      <p:italic r:id="rId28"/>
      <p:boldItalic r:id="rId29"/>
    </p:embeddedFont>
    <p:embeddedFont>
      <p:font typeface="Roboto Bold" panose="02000000000000000000" charset="0"/>
      <p:regular r:id="rId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1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2841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9533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Finsite Bank — Finance Analytics Dashboard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442766"/>
            <a:ext cx="10868745" cy="715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Power BI | DAX | Time Intelligence | Data Modeling | Dashboard Design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Report — Personal / Portfolio Project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3344069"/>
            <a:ext cx="10868745" cy="1918494"/>
          </a:xfrm>
          <a:prstGeom prst="roundRect">
            <a:avLst>
              <a:gd name="adj" fmla="val 362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825" y="3350419"/>
            <a:ext cx="5428023" cy="952897"/>
          </a:xfrm>
          <a:custGeom>
            <a:avLst/>
            <a:gdLst/>
            <a:ahLst/>
            <a:cxnLst/>
            <a:rect l="l" t="t" r="r" b="b"/>
            <a:pathLst>
              <a:path w="5428023" h="952897">
                <a:moveTo>
                  <a:pt x="57887" y="0"/>
                </a:moveTo>
                <a:lnTo>
                  <a:pt x="5428023" y="0"/>
                </a:lnTo>
                <a:lnTo>
                  <a:pt x="5428023" y="952897"/>
                </a:lnTo>
                <a:lnTo>
                  <a:pt x="0" y="952897"/>
                </a:lnTo>
                <a:lnTo>
                  <a:pt x="0" y="57888"/>
                </a:lnTo>
                <a:arcTo wR="57887" hR="57888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6" name="Text 4"/>
          <p:cNvSpPr/>
          <p:nvPr/>
        </p:nvSpPr>
        <p:spPr>
          <a:xfrm>
            <a:off x="833119" y="3515717"/>
            <a:ext cx="50974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Platform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3119" y="3873401"/>
            <a:ext cx="509743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Microsoft Power BI Desktop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95848" y="3350419"/>
            <a:ext cx="5428023" cy="952897"/>
          </a:xfrm>
          <a:custGeom>
            <a:avLst/>
            <a:gdLst/>
            <a:ahLst/>
            <a:cxnLst/>
            <a:rect l="l" t="t" r="r" b="b"/>
            <a:pathLst>
              <a:path w="5428023" h="952897">
                <a:moveTo>
                  <a:pt x="0" y="0"/>
                </a:moveTo>
                <a:lnTo>
                  <a:pt x="5370136" y="0"/>
                </a:lnTo>
                <a:arcTo wR="57887" hR="57888" stAng="16200000" swAng="5400000"/>
                <a:lnTo>
                  <a:pt x="5428023" y="952897"/>
                </a:lnTo>
                <a:lnTo>
                  <a:pt x="0" y="952897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9" name="Shape 7"/>
          <p:cNvSpPr/>
          <p:nvPr/>
        </p:nvSpPr>
        <p:spPr>
          <a:xfrm>
            <a:off x="6095848" y="3350419"/>
            <a:ext cx="19050" cy="952897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0" name="Text 8"/>
          <p:cNvSpPr/>
          <p:nvPr/>
        </p:nvSpPr>
        <p:spPr>
          <a:xfrm>
            <a:off x="6261142" y="3515717"/>
            <a:ext cx="50974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Scope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61142" y="3873401"/>
            <a:ext cx="509743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End-to-end analytics build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7825" y="4303316"/>
            <a:ext cx="5428023" cy="952897"/>
          </a:xfrm>
          <a:custGeom>
            <a:avLst/>
            <a:gdLst/>
            <a:ahLst/>
            <a:cxnLst/>
            <a:rect l="l" t="t" r="r" b="b"/>
            <a:pathLst>
              <a:path w="5428023" h="952897">
                <a:moveTo>
                  <a:pt x="0" y="0"/>
                </a:moveTo>
                <a:lnTo>
                  <a:pt x="5428023" y="0"/>
                </a:lnTo>
                <a:lnTo>
                  <a:pt x="5428023" y="952897"/>
                </a:lnTo>
                <a:lnTo>
                  <a:pt x="57887" y="952897"/>
                </a:lnTo>
                <a:arcTo wR="57887" hR="57888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3" name="Shape 11"/>
          <p:cNvSpPr/>
          <p:nvPr/>
        </p:nvSpPr>
        <p:spPr>
          <a:xfrm>
            <a:off x="667825" y="4303316"/>
            <a:ext cx="5428023" cy="1905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4" name="Text 12"/>
          <p:cNvSpPr/>
          <p:nvPr/>
        </p:nvSpPr>
        <p:spPr>
          <a:xfrm>
            <a:off x="833119" y="4468614"/>
            <a:ext cx="50974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Period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3119" y="4826298"/>
            <a:ext cx="509743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2023 – 2026 transactions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95848" y="4303316"/>
            <a:ext cx="5428023" cy="952897"/>
          </a:xfrm>
          <a:custGeom>
            <a:avLst/>
            <a:gdLst/>
            <a:ahLst/>
            <a:cxnLst/>
            <a:rect l="l" t="t" r="r" b="b"/>
            <a:pathLst>
              <a:path w="5428023" h="952897">
                <a:moveTo>
                  <a:pt x="0" y="0"/>
                </a:moveTo>
                <a:lnTo>
                  <a:pt x="5428023" y="0"/>
                </a:lnTo>
                <a:lnTo>
                  <a:pt x="5428023" y="895008"/>
                </a:lnTo>
                <a:arcTo wR="57887" hR="57888" stAng="0" swAng="5400000"/>
                <a:lnTo>
                  <a:pt x="0" y="952897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5848" y="4303316"/>
            <a:ext cx="19050" cy="952897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5848" y="4303316"/>
            <a:ext cx="5428023" cy="1905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9" name="Text 17"/>
          <p:cNvSpPr/>
          <p:nvPr/>
        </p:nvSpPr>
        <p:spPr>
          <a:xfrm>
            <a:off x="6261142" y="4468614"/>
            <a:ext cx="50974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Type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61142" y="4826298"/>
            <a:ext cx="509743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Portfolio / Personal Project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3254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 Project Overview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546152"/>
            <a:ext cx="6359862" cy="2530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is an end-to-end Power BI finance analytics project built for a fictional bank, </a:t>
            </a: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"Finsite Bank,"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covering the full workflow: data collection, cleaning, modeling, DAX measure design, and dashboard build-out. The project simulates a real banking transactions dataset spanning </a:t>
            </a: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2023–2026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scaled down from real-world volumes (transactions reduced at roughly a </a:t>
            </a: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1:100 ratio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while keeping the structure and patterns of genuine transaction data.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is built as </a:t>
            </a: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two connected report pages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an Overview Analysis dashboard and a Transactions dashboard — using two related tables (a transactions table and a customers table) joined through data modeling.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2041" y="2397323"/>
            <a:ext cx="4343490" cy="2828032"/>
          </a:xfrm>
          <a:prstGeom prst="roundRect">
            <a:avLst>
              <a:gd name="adj" fmla="val 4211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477335" y="2562622"/>
            <a:ext cx="401290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Scope at a Glance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77335" y="2986385"/>
            <a:ext cx="4012901" cy="1876921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collection &amp; cleaning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Relational data modeling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DAX measure design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Dashboard build-out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 connected report pages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Transactions + Customers tables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26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Problem Statement &amp; Objectives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753691"/>
            <a:ext cx="5351725" cy="20163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13317" y="186253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845819" y="2434134"/>
            <a:ext cx="49830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Unified Stakeholder View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45819" y="2791817"/>
            <a:ext cx="498303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Give banking stakeholders a single, interactive view of transaction volume, value, fees, and tax collected across years, regions, and customer segments.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8495" y="1753691"/>
            <a:ext cx="5351725" cy="20163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30337" y="186253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6362838" y="2434134"/>
            <a:ext cx="49830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Year-on-Year Comparisons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362838" y="2791817"/>
            <a:ext cx="498303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Show YoY growth or decline for every core metric, using the currently selected year vs. the same period last year — including partial-year comparisons.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935313"/>
            <a:ext cx="5351725" cy="201632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213317" y="4044156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950" dirty="0"/>
          </a:p>
        </p:txBody>
      </p:sp>
      <p:sp>
        <p:nvSpPr>
          <p:cNvPr id="13" name="Text 8"/>
          <p:cNvSpPr/>
          <p:nvPr/>
        </p:nvSpPr>
        <p:spPr>
          <a:xfrm>
            <a:off x="845819" y="4615755"/>
            <a:ext cx="49830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Dynamic Metric Switching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45819" y="4973439"/>
            <a:ext cx="498303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Let users dynamically switch the underlying metric driving the charts (Amount, Fees, Tax, or Transactions) instead of building separate charts for each.</a:t>
            </a:r>
            <a:endParaRPr lang="en-US" sz="13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8495" y="3935313"/>
            <a:ext cx="5351725" cy="201632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730337" y="4044156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950" dirty="0"/>
          </a:p>
        </p:txBody>
      </p:sp>
      <p:sp>
        <p:nvSpPr>
          <p:cNvPr id="17" name="Text 11"/>
          <p:cNvSpPr/>
          <p:nvPr/>
        </p:nvSpPr>
        <p:spPr>
          <a:xfrm>
            <a:off x="6362838" y="4615755"/>
            <a:ext cx="498303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Root-Cause Investigation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6362838" y="4973439"/>
            <a:ext cx="498303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 drill-through from summary visuals into detail records (e.g., a specific month or failed-transaction status) and enable export of filtered records to CSV.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8584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 Tools &amp; Data Source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602581"/>
            <a:ext cx="524268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Tool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61475" y="1997373"/>
            <a:ext cx="5242687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Microsoft Power BI Desktop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data modeling, DAX, and report design. Planned publishing to </a:t>
            </a: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Power BI Service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Microsoft Fabric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61475" y="2694781"/>
            <a:ext cx="5242687" cy="19050"/>
          </a:xfrm>
          <a:prstGeom prst="roundRect">
            <a:avLst>
              <a:gd name="adj" fmla="val 49999"/>
            </a:avLst>
          </a:prstGeom>
          <a:solidFill>
            <a:srgbClr val="3C3939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2920901"/>
            <a:ext cx="524268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Transactions Table Fields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61475" y="3420765"/>
            <a:ext cx="78480" cy="78482"/>
          </a:xfrm>
          <a:prstGeom prst="ellipse">
            <a:avLst/>
          </a:prstGeom>
          <a:solidFill>
            <a:srgbClr val="1B1B27"/>
          </a:solidFill>
          <a:ln/>
        </p:spPr>
      </p:sp>
      <p:sp>
        <p:nvSpPr>
          <p:cNvPr id="8" name="Text 6"/>
          <p:cNvSpPr/>
          <p:nvPr/>
        </p:nvSpPr>
        <p:spPr>
          <a:xfrm>
            <a:off x="889176" y="3334345"/>
            <a:ext cx="5014985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Transaction ID, Amount, Fee Amount, Tax Amount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61475" y="3964384"/>
            <a:ext cx="78480" cy="78482"/>
          </a:xfrm>
          <a:prstGeom prst="ellipse">
            <a:avLst/>
          </a:prstGeom>
          <a:solidFill>
            <a:srgbClr val="1B1B27"/>
          </a:solidFill>
          <a:ln/>
        </p:spPr>
      </p:sp>
      <p:sp>
        <p:nvSpPr>
          <p:cNvPr id="10" name="Text 8"/>
          <p:cNvSpPr/>
          <p:nvPr/>
        </p:nvSpPr>
        <p:spPr>
          <a:xfrm>
            <a:off x="889176" y="3877965"/>
            <a:ext cx="5014985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Transaction Date, Status, Type, Category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1475" y="4508004"/>
            <a:ext cx="78480" cy="78482"/>
          </a:xfrm>
          <a:prstGeom prst="ellipse">
            <a:avLst/>
          </a:prstGeom>
          <a:solidFill>
            <a:srgbClr val="1B1B27"/>
          </a:solidFill>
          <a:ln/>
        </p:spPr>
      </p:sp>
      <p:sp>
        <p:nvSpPr>
          <p:cNvPr id="12" name="Text 10"/>
          <p:cNvSpPr/>
          <p:nvPr/>
        </p:nvSpPr>
        <p:spPr>
          <a:xfrm>
            <a:off x="889176" y="4421584"/>
            <a:ext cx="5014985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State (geographic dimension)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93883" y="1602581"/>
            <a:ext cx="524268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Customers Table Fields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93883" y="2102445"/>
            <a:ext cx="78480" cy="78482"/>
          </a:xfrm>
          <a:prstGeom prst="ellipse">
            <a:avLst/>
          </a:prstGeom>
          <a:solidFill>
            <a:srgbClr val="1B1B27"/>
          </a:solidFill>
          <a:ln/>
        </p:spPr>
      </p:sp>
      <p:sp>
        <p:nvSpPr>
          <p:cNvPr id="15" name="Text 13"/>
          <p:cNvSpPr/>
          <p:nvPr/>
        </p:nvSpPr>
        <p:spPr>
          <a:xfrm>
            <a:off x="6521585" y="2016026"/>
            <a:ext cx="5014985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Segment (retail, premium, corporate, wealth)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93883" y="2646065"/>
            <a:ext cx="78480" cy="78482"/>
          </a:xfrm>
          <a:prstGeom prst="ellipse">
            <a:avLst/>
          </a:prstGeom>
          <a:solidFill>
            <a:srgbClr val="1B1B27"/>
          </a:solidFill>
          <a:ln/>
        </p:spPr>
      </p:sp>
      <p:sp>
        <p:nvSpPr>
          <p:cNvPr id="17" name="Text 15"/>
          <p:cNvSpPr/>
          <p:nvPr/>
        </p:nvSpPr>
        <p:spPr>
          <a:xfrm>
            <a:off x="6521585" y="2559645"/>
            <a:ext cx="5014985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Occupation (student, freelancer, etc.)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93883" y="3189684"/>
            <a:ext cx="78480" cy="78482"/>
          </a:xfrm>
          <a:prstGeom prst="ellipse">
            <a:avLst/>
          </a:prstGeom>
          <a:solidFill>
            <a:srgbClr val="1B1B27"/>
          </a:solidFill>
          <a:ln/>
        </p:spPr>
      </p:sp>
      <p:sp>
        <p:nvSpPr>
          <p:cNvPr id="19" name="Text 17"/>
          <p:cNvSpPr/>
          <p:nvPr/>
        </p:nvSpPr>
        <p:spPr>
          <a:xfrm>
            <a:off x="6521585" y="3103265"/>
            <a:ext cx="5014985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Gender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93883" y="3555504"/>
            <a:ext cx="5242687" cy="19050"/>
          </a:xfrm>
          <a:prstGeom prst="roundRect">
            <a:avLst>
              <a:gd name="adj" fmla="val 49999"/>
            </a:avLst>
          </a:prstGeom>
          <a:solidFill>
            <a:srgbClr val="3C3939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293883" y="3781623"/>
            <a:ext cx="524268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Calendar / Date Table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93883" y="4176415"/>
            <a:ext cx="5242687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dedicated Calendar table related to the transactions table on the date field, used exclusively for all time-intelligence calculations to ensure reliability even when transaction dates have gaps.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93883" y="5118993"/>
            <a:ext cx="5242687" cy="19050"/>
          </a:xfrm>
          <a:prstGeom prst="roundRect">
            <a:avLst>
              <a:gd name="adj" fmla="val 49999"/>
            </a:avLst>
          </a:prstGeom>
          <a:solidFill>
            <a:srgbClr val="3C3939">
              <a:alpha val="5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293883" y="5345113"/>
            <a:ext cx="524268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Period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93883" y="5739904"/>
            <a:ext cx="5852272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2023 – 2026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| Scale: ~1:100 ratio vs. real-world volumes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7796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 Data Modeling Approach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2325390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3485" y="2356396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98830" y="2382242"/>
            <a:ext cx="294771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Relational Table Structure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98830" y="2739926"/>
            <a:ext cx="2947715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 fact/dimension-style tables — </a:t>
            </a: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transactions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customers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connected through data modeling rather than kept as flat, disconnected data. This enables cross-table filtering and segmentation analysis.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53213" y="2325390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15223" y="2356396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890568" y="2382242"/>
            <a:ext cx="294781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Standalone Calendar Table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90568" y="2739926"/>
            <a:ext cx="2947815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dedicated Calendar table related to the transactions table on the date field, so time-intelligence functions behave reliably instead of relying on transaction dates directly, which can have gaps and cause incorrect period calculations.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5050" y="2325390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07060" y="2356396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8582406" y="2382242"/>
            <a:ext cx="2947815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Global Year Filter with Partial-Year Awareness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82406" y="2998391"/>
            <a:ext cx="2947815" cy="2381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global year filter (2023–2026) applied across the report. Selecting a year automatically recalculates every YoY comparison against the prior year. For example, </a:t>
            </a: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2026 has only Jan–Apr of data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so the YoY comparison correctly compares against the same four months of 2025 — not a full year — ensuring accurate like-for-like analysis.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17389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 Key DAX Measures Built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61475" y="1750417"/>
            <a:ext cx="10868745" cy="458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each of the 5 core KPIs, the same repeatable </a:t>
            </a: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three-step DAX pattern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was used: (1) a base measure, (2) a previous-year version using </a:t>
            </a:r>
            <a:r>
              <a:rPr lang="en-US" sz="11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SAMEPERIODLASTYEAR()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against the Calendar table, and (3) a YoY growth and YoY % measure comparing the two.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61475" y="2359918"/>
            <a:ext cx="10868745" cy="3480594"/>
          </a:xfrm>
          <a:prstGeom prst="roundRect">
            <a:avLst>
              <a:gd name="adj" fmla="val 1796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1475" y="2769096"/>
            <a:ext cx="10868745" cy="930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3175099"/>
            <a:ext cx="10868745" cy="930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3581102"/>
            <a:ext cx="10868745" cy="930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3987105"/>
            <a:ext cx="10868745" cy="930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4393109"/>
            <a:ext cx="10868745" cy="930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1475" y="4799112"/>
            <a:ext cx="10868745" cy="930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61475" y="5431334"/>
            <a:ext cx="10868745" cy="930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67924" y="2366268"/>
            <a:ext cx="3039689" cy="402828"/>
          </a:xfrm>
          <a:custGeom>
            <a:avLst/>
            <a:gdLst/>
            <a:ahLst/>
            <a:cxnLst/>
            <a:rect l="l" t="t" r="r" b="b"/>
            <a:pathLst>
              <a:path w="3039689" h="402828">
                <a:moveTo>
                  <a:pt x="52098" y="0"/>
                </a:moveTo>
                <a:lnTo>
                  <a:pt x="3039689" y="0"/>
                </a:lnTo>
                <a:lnTo>
                  <a:pt x="3039689" y="402828"/>
                </a:lnTo>
                <a:lnTo>
                  <a:pt x="0" y="402828"/>
                </a:lnTo>
                <a:lnTo>
                  <a:pt x="0" y="52100"/>
                </a:lnTo>
                <a:arcTo wR="52098" hR="52100" stAng="10800000" swAng="5400000"/>
                <a:close/>
              </a:path>
            </a:pathLst>
          </a:custGeom>
          <a:solidFill>
            <a:srgbClr val="1B1B27"/>
          </a:solidFill>
          <a:ln/>
        </p:spPr>
      </p:sp>
      <p:sp>
        <p:nvSpPr>
          <p:cNvPr id="13" name="Text 11"/>
          <p:cNvSpPr/>
          <p:nvPr/>
        </p:nvSpPr>
        <p:spPr>
          <a:xfrm>
            <a:off x="816748" y="2452985"/>
            <a:ext cx="335162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Measure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707613" y="2366268"/>
            <a:ext cx="4342398" cy="40282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5" name="Text 13"/>
          <p:cNvSpPr/>
          <p:nvPr/>
        </p:nvSpPr>
        <p:spPr>
          <a:xfrm>
            <a:off x="3856437" y="2452985"/>
            <a:ext cx="4654334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DAX Logic (plain terms)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50011" y="2366268"/>
            <a:ext cx="3473859" cy="402828"/>
          </a:xfrm>
          <a:custGeom>
            <a:avLst/>
            <a:gdLst/>
            <a:ahLst/>
            <a:cxnLst/>
            <a:rect l="l" t="t" r="r" b="b"/>
            <a:pathLst>
              <a:path w="3473859" h="402828">
                <a:moveTo>
                  <a:pt x="0" y="0"/>
                </a:moveTo>
                <a:lnTo>
                  <a:pt x="3421761" y="0"/>
                </a:lnTo>
                <a:arcTo wR="52098" hR="52100" stAng="16200000" swAng="5400000"/>
                <a:lnTo>
                  <a:pt x="3473859" y="402828"/>
                </a:lnTo>
                <a:lnTo>
                  <a:pt x="0" y="402828"/>
                </a:lnTo>
                <a:lnTo>
                  <a:pt x="0" y="0"/>
                </a:lnTo>
                <a:close/>
              </a:path>
            </a:pathLst>
          </a:custGeom>
          <a:solidFill>
            <a:srgbClr val="1B1B27"/>
          </a:solidFill>
          <a:ln/>
        </p:spPr>
      </p:sp>
      <p:sp>
        <p:nvSpPr>
          <p:cNvPr id="17" name="Text 15"/>
          <p:cNvSpPr/>
          <p:nvPr/>
        </p:nvSpPr>
        <p:spPr>
          <a:xfrm>
            <a:off x="8198836" y="2452985"/>
            <a:ext cx="378579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Business Purpose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16748" y="2858988"/>
            <a:ext cx="335162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Amount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856437" y="2858988"/>
            <a:ext cx="4654334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 of transaction Amount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198836" y="2858988"/>
            <a:ext cx="378579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Overall transaction value for the period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16748" y="3264991"/>
            <a:ext cx="335162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Previous Year Amount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856437" y="3264991"/>
            <a:ext cx="4654334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SAMEPERIODLASTYEAR() on the Calendar table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198836" y="3264991"/>
            <a:ext cx="378579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Baseline for year-on-year comparison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16748" y="3670995"/>
            <a:ext cx="335162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YoY Amount / YoY %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856437" y="3670995"/>
            <a:ext cx="4654334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Current − Previous, then ÷ Previous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198836" y="3670995"/>
            <a:ext cx="378579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Growth or decline vs. last year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16748" y="4076998"/>
            <a:ext cx="335162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Transactions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856437" y="4076998"/>
            <a:ext cx="4654334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DISTINCTCOUNT of Transaction ID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198836" y="4076998"/>
            <a:ext cx="378579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Number of transactions processed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16748" y="4483001"/>
            <a:ext cx="335162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 Transaction Value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856437" y="4483001"/>
            <a:ext cx="4654334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 of Amount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98836" y="4483001"/>
            <a:ext cx="378579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Typical transaction size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16748" y="4889004"/>
            <a:ext cx="335162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 Fees / Total Tax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856437" y="4889004"/>
            <a:ext cx="4654334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 of Fee Amount / Tax Amount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198836" y="4889004"/>
            <a:ext cx="3176210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Revenue and tax components tracked separately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16748" y="5521226"/>
            <a:ext cx="335162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Previous Year &amp; YoY versions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856437" y="5521226"/>
            <a:ext cx="4654334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Same SAMEPERIODLASTYEAR() pattern repeated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198836" y="5521226"/>
            <a:ext cx="3785795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Consistent YoY view across every KPI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9649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 Dashboard Pages &amp; Features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43918"/>
            <a:ext cx="8464834" cy="45668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096794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Figure 1: Overview Analysis dashboard — KPI cards, YoY trends, and regional/segment breakdowns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00237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6.1 Overview Analysis Dashboard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838127"/>
            <a:ext cx="4702256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Headline KPI Cards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61475" y="2177157"/>
            <a:ext cx="4702256" cy="624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headline KPI cards — </a:t>
            </a: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Total Amount, Total Transactions, Average Transaction Value, Total Fees, Total Tax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each with a secondary YoY badge showing growth/decline vs. the previous year.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1475" y="2970808"/>
            <a:ext cx="4702256" cy="19050"/>
          </a:xfrm>
          <a:prstGeom prst="roundRect">
            <a:avLst>
              <a:gd name="adj" fmla="val 49999"/>
            </a:avLst>
          </a:prstGeom>
          <a:solidFill>
            <a:srgbClr val="3C3939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3159323"/>
            <a:ext cx="4702256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Dynamic Measure Selector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61475" y="3498354"/>
            <a:ext cx="4702256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runtime metric switcher lets any chart be re-driven by a different metric (Amount, Fees, Tax, or Transactions) without building one chart per metric.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61475" y="4083943"/>
            <a:ext cx="4702256" cy="19050"/>
          </a:xfrm>
          <a:prstGeom prst="roundRect">
            <a:avLst>
              <a:gd name="adj" fmla="val 49999"/>
            </a:avLst>
          </a:prstGeom>
          <a:solidFill>
            <a:srgbClr val="3C3939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61475" y="4272459"/>
            <a:ext cx="4702256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Additional Slicers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61475" y="4611489"/>
            <a:ext cx="4702256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Occupation (e.g., student, freelancer) and transaction category (e.g., fuel, food delivery, entertainment) slicers for granular filtering.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12972" y="1838127"/>
            <a:ext cx="5823499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Drill-Down Chart Suite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712972" y="2192040"/>
            <a:ext cx="5823499" cy="3431282"/>
          </a:xfrm>
          <a:prstGeom prst="roundRect">
            <a:avLst>
              <a:gd name="adj" fmla="val 1721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2972" y="2565598"/>
            <a:ext cx="5823499" cy="878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712972" y="2935982"/>
            <a:ext cx="5823499" cy="878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712972" y="3514427"/>
            <a:ext cx="5823499" cy="878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712972" y="4092873"/>
            <a:ext cx="5823499" cy="878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712972" y="4463256"/>
            <a:ext cx="5823499" cy="878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712972" y="5041702"/>
            <a:ext cx="5823499" cy="878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860010" y="2276376"/>
            <a:ext cx="2652845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Chart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184251" y="2276376"/>
            <a:ext cx="178123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Visual Type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36876" y="2276376"/>
            <a:ext cx="2362339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Purpose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60010" y="2646759"/>
            <a:ext cx="2652845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Amount by Month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184251" y="2646759"/>
            <a:ext cx="178123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Line / area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36876" y="2646759"/>
            <a:ext cx="2362339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Seasonal spikes or drops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60010" y="3017143"/>
            <a:ext cx="2652845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Amount by Transaction Status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184251" y="3017143"/>
            <a:ext cx="178123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Donut chart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36876" y="3017143"/>
            <a:ext cx="1752755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Successful vs. failed vs. pending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60010" y="3595588"/>
            <a:ext cx="2652845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Amount by Customer Segment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184251" y="3595588"/>
            <a:ext cx="178123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Horizontal bar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36876" y="3595588"/>
            <a:ext cx="1752755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Most valuable customer groups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60010" y="4174034"/>
            <a:ext cx="2652845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Amount by State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184251" y="4174034"/>
            <a:ext cx="178123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Bar / map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636876" y="4174034"/>
            <a:ext cx="2362339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Regional performance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860010" y="4544417"/>
            <a:ext cx="2652845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Amount by Transaction Type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184251" y="4544417"/>
            <a:ext cx="178123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Heatmap / table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636876" y="4544417"/>
            <a:ext cx="1752755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Volume by type (EMI, transfer, etc.)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860010" y="5122863"/>
            <a:ext cx="2652845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Amount by Gender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184251" y="5122863"/>
            <a:ext cx="178123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Bar / donut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636876" y="5122863"/>
            <a:ext cx="1752755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Transaction behavior by gender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5787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6.2 Transactions Dashboard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159470"/>
            <a:ext cx="6533887" cy="3525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789091"/>
            <a:ext cx="11478330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Figure 2: Transactions dashboard — detail-level transaction records with drill-through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661475" y="5067300"/>
            <a:ext cx="3560872" cy="1204813"/>
          </a:xfrm>
          <a:prstGeom prst="roundRect">
            <a:avLst>
              <a:gd name="adj" fmla="val 432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91845" y="5197673"/>
            <a:ext cx="330013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Detail-Level View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91845" y="5447209"/>
            <a:ext cx="3300132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Lists every individual transaction, built on the transactions and customers tables for full row-level visibility.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315312" y="5067300"/>
            <a:ext cx="3560971" cy="1204813"/>
          </a:xfrm>
          <a:prstGeom prst="roundRect">
            <a:avLst>
              <a:gd name="adj" fmla="val 432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45683" y="5197673"/>
            <a:ext cx="3300231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Drill-Through Navigation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445683" y="5447209"/>
            <a:ext cx="3300231" cy="694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Drill from Overview Analysis into this page — e.g., a specific month's data point shows every underlying transaction for that month/year; drilling from "Failed" status filters the detail view accordingly.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969249" y="5067300"/>
            <a:ext cx="3560872" cy="1204813"/>
          </a:xfrm>
          <a:prstGeom prst="roundRect">
            <a:avLst>
              <a:gd name="adj" fmla="val 432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99619" y="5197673"/>
            <a:ext cx="330013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Export to CSV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099619" y="5447209"/>
            <a:ext cx="3300132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Via the visual's "···" menu, a filtered view — such as all failed transactions or all transactions for a specific state — can be exported and handed off to another team.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0023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 Reference Label &amp; Formatting Details (KPI Layer)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747665"/>
            <a:ext cx="413434" cy="4134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1577" y="2747665"/>
            <a:ext cx="28649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YoY Reference Labels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81577" y="3105348"/>
            <a:ext cx="2864969" cy="1852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Used the </a:t>
            </a: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Reference Labels / Reference Label Layout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feature to attach a small, styled YoY badge under each headline number, labeled </a:t>
            </a:r>
            <a:r>
              <a:rPr lang="en-US" sz="13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"vs previous year,"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 black text on a white background for readability and visual contrast.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53213" y="2747665"/>
            <a:ext cx="413434" cy="41344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73315" y="2747665"/>
            <a:ext cx="286506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Indian Currency Formatting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973315" y="3105348"/>
            <a:ext cx="2865068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Applied </a:t>
            </a: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Indian currency (₹) formatting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on all monetary KPIs using the </a:t>
            </a: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English (India)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locale, ensuring numbers display in the correct lakh/crore notation familiar to banking stakeholders.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45050" y="2747665"/>
            <a:ext cx="413434" cy="41344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65152" y="2747665"/>
            <a:ext cx="286506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Percentage &amp; Icon Polish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8665152" y="3105348"/>
            <a:ext cx="2865068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Formatted YoY measures as percentages, and added </a:t>
            </a: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custom icons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next to each KPI card for a cleaner, more intuitive layout that reduces cognitive load when scanning the dashboard.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6021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 Skills Demonstrated</a:t>
            </a:r>
            <a:endParaRPr lang="en-US" sz="3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0409" y="1913582"/>
            <a:ext cx="235639" cy="23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72042" y="1908671"/>
            <a:ext cx="4732120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DAX Functions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172042" y="2303463"/>
            <a:ext cx="4732120" cy="748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2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2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AVERAGE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2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DISTINCTCOUNT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2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DIVIDE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and the </a:t>
            </a:r>
            <a:r>
              <a:rPr lang="en-US" sz="12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SAMEPERIODLASTYEAR()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time-intelligence function for consistent period comparisons.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0409" y="3355032"/>
            <a:ext cx="235639" cy="23564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72042" y="3350121"/>
            <a:ext cx="4732120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Modeling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172042" y="3744913"/>
            <a:ext cx="4732120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Relating multiple tables (transactions, customers, calendar) rather than working off a single flat table — enabling cross-table filtering and reliable time intelligence.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0409" y="4783782"/>
            <a:ext cx="235639" cy="23564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72042" y="4778871"/>
            <a:ext cx="4732120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Dynamic / Parameterized Reporting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1172042" y="5173663"/>
            <a:ext cx="4732120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Building charts that can be re-driven by different metrics at runtime, eliminating the need to duplicate visuals for each KPI.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2818" y="1913582"/>
            <a:ext cx="235639" cy="23564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804450" y="1908671"/>
            <a:ext cx="4732120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Interactivity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6804450" y="2303463"/>
            <a:ext cx="4732120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Drill-through navigation, filtered CSV export, and multi-level slicers (year, occupation, category) for self-service root-cause analysis.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2818" y="3097163"/>
            <a:ext cx="235639" cy="23564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804450" y="3092252"/>
            <a:ext cx="4732120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Report Formatting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6804450" y="3487043"/>
            <a:ext cx="4732120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Reference labels, locale-based number formatting (₹, English India), and visual polish with custom icons for a professional, stakeholder-ready output.</a:t>
            </a:r>
            <a:endParaRPr lang="en-US" sz="12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2818" y="4525913"/>
            <a:ext cx="235639" cy="23564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804450" y="4521002"/>
            <a:ext cx="4732120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Deployment </a:t>
            </a:r>
            <a:endParaRPr lang="en-US" sz="1500" dirty="0"/>
          </a:p>
        </p:txBody>
      </p:sp>
      <p:sp>
        <p:nvSpPr>
          <p:cNvPr id="20" name="Text 12"/>
          <p:cNvSpPr/>
          <p:nvPr/>
        </p:nvSpPr>
        <p:spPr>
          <a:xfrm>
            <a:off x="6804450" y="4915793"/>
            <a:ext cx="4732120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Publishing to </a:t>
            </a: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Power BI Service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Microsoft Fabric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cloud-hosted, shareable reporting.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1363</Words>
  <Application>Microsoft Office PowerPoint</Application>
  <PresentationFormat>Widescreen</PresentationFormat>
  <Paragraphs>155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Calibri</vt:lpstr>
      <vt:lpstr>Roboto</vt:lpstr>
      <vt:lpstr>Consolas</vt:lpstr>
      <vt:lpstr>Arial</vt:lpstr>
      <vt:lpstr>Raleway</vt:lpstr>
      <vt:lpstr>Roboto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</dc:creator>
  <cp:lastModifiedBy>918310301748</cp:lastModifiedBy>
  <cp:revision>1</cp:revision>
  <dcterms:created xsi:type="dcterms:W3CDTF">2026-08-18T13:26:18Z</dcterms:created>
  <dcterms:modified xsi:type="dcterms:W3CDTF">2026-08-18T13:28:06Z</dcterms:modified>
</cp:coreProperties>
</file>